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365760" bIns="365760"/>
          <a:lstStyle/>
          <a:p>
            <a:pPr algn="ctr">
              <a:spcAft>
                <a:spcPts val="1400"/>
              </a:spcAft>
              <a:defRPr sz="130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  <a:p>
            <a:pPr algn="ctr"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AgriFlow AI</a:t>
            </a:r>
          </a:p>
          <a:p>
            <a:pPr algn="ctr">
              <a:spcAft>
                <a:spcPts val="1600"/>
              </a:spcAft>
              <a:defRPr sz="1800" b="1">
                <a:solidFill>
                  <a:srgbClr val="38BDF8"/>
                </a:solidFill>
              </a:defRPr>
            </a:pPr>
            <a:r>
              <a:t>Decentralized Smart Agri-Logistics &amp; Direct Procurement Protocol</a:t>
            </a:r>
          </a:p>
          <a:p>
            <a:pPr algn="ctr">
              <a:spcAft>
                <a:spcPts val="2400"/>
              </a:spcAft>
              <a:defRPr sz="1300">
                <a:solidFill>
                  <a:srgbClr val="CBD5E1"/>
                </a:solidFill>
              </a:defRPr>
            </a:pPr>
            <a:r>
              <a:t>Empowering 140M+ Indian Farmers with AI Cold-Chain IoT Telematics, Direct Institutional Sourcing, and Guaranteed Above-MSP T+0 Bank Payouts.</a:t>
            </a:r>
          </a:p>
          <a:p>
            <a:pPr algn="ctr">
              <a:defRPr sz="1200" b="1">
                <a:solidFill>
                  <a:srgbClr val="FBBF24"/>
                </a:solidFill>
              </a:defRPr>
            </a:pPr>
            <a:r>
              <a:t>🌾 Multi-Stakeholder Ecosystem   •   🌐 11 Indian Languages   •   ❄️ 0-4°C Active Cold Chain   •   ⚡ T+0 RBI Escrow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Ground Reality: Critical Challenges in Indian Perishable Supply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2073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320040" bIns="256032"/>
          <a:lstStyle/>
          <a:p>
            <a:pPr algn="ctr">
              <a:spcAft>
                <a:spcPts val="800"/>
              </a:spcAft>
              <a:defRPr sz="2200" b="1">
                <a:solidFill>
                  <a:srgbClr val="FB7185"/>
                </a:solidFill>
              </a:defRPr>
            </a:pPr>
            <a:r>
              <a:t>🚨 35% – 40%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Post-Harvest Waste</a:t>
            </a:r>
          </a:p>
          <a:p>
            <a:pPr>
              <a:spcAft>
                <a:spcPts val="1400"/>
              </a:spcAft>
              <a:defRPr sz="1200" b="1">
                <a:solidFill>
                  <a:srgbClr val="94A3B8"/>
                </a:solidFill>
              </a:defRPr>
            </a:pPr>
            <a:r>
              <a:t>Critical Cold-Chain Deficit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Absence of farmgate pre-cooling and refrigerated transport leads to severe rotting of tomatoes, onions, and greens before reaching urban markets.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645920"/>
            <a:ext cx="3332073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320040" bIns="256032"/>
          <a:lstStyle/>
          <a:p>
            <a:pPr algn="ctr">
              <a:spcAft>
                <a:spcPts val="800"/>
              </a:spcAft>
              <a:defRPr sz="2200" b="1">
                <a:solidFill>
                  <a:srgbClr val="FBBF24"/>
                </a:solidFill>
              </a:defRPr>
            </a:pPr>
            <a:r>
              <a:t>⛓️ 4 – 6 Layers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Middlemen Cartels</a:t>
            </a:r>
          </a:p>
          <a:p>
            <a:pPr>
              <a:spcAft>
                <a:spcPts val="1400"/>
              </a:spcAft>
              <a:defRPr sz="1200" b="1">
                <a:solidFill>
                  <a:srgbClr val="94A3B8"/>
                </a:solidFill>
              </a:defRPr>
            </a:pPr>
            <a:r>
              <a:t>Exploitative APMC Mandi Leakage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Farmers realize only 25-30% of final consumer spend. Non-transparent commission cuts, loading fees, and distress auctions force sales below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7" y="1645920"/>
            <a:ext cx="3332073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320040" bIns="256032"/>
          <a:lstStyle/>
          <a:p>
            <a:pPr algn="ctr">
              <a:spcAft>
                <a:spcPts val="800"/>
              </a:spcAft>
              <a:defRPr sz="2200" b="1">
                <a:solidFill>
                  <a:srgbClr val="38BDF8"/>
                </a:solidFill>
              </a:defRPr>
            </a:pPr>
            <a:r>
              <a:t>📉 Below MSP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Distress Sales</a:t>
            </a:r>
          </a:p>
          <a:p>
            <a:pPr>
              <a:spcAft>
                <a:spcPts val="1400"/>
              </a:spcAft>
              <a:defRPr sz="1200" b="1">
                <a:solidFill>
                  <a:srgbClr val="94A3B8"/>
                </a:solidFill>
              </a:defRPr>
            </a:pPr>
            <a:r>
              <a:t>Severe Rural Financial Vulnerability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Lack of real-time market intelligence forces smallholder farmers to sell at catastrophic discounts during bumper harvest peaks, risking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AgriFlow AI Solution: End-to-End Agri-Logistics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MARKETPLACE DISCOVERY   •   🌾 Direct Farmgate Aggregation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Eliminates APMC Intermediary Cartels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Connects Farmer Producer Organizations (FPOs) directly with institutional buyers (BigBasket, Zepto, Reliance) with AI-certified quality grading and 0% commission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COLD TELEMATICS   •   ❄️ 0-4°C Active Cold Chain &amp; IoT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Real-Time Telematics &amp; Dynamic Route Optimization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Integrated ESP32/Teltonika sensors track Temperature, Relative Humidity, and Ethylene gas ppm in real time, auto-rerouting reefer vans to avoid traffic and heat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PRICE ASSURANCE   •   🛡️ Guaranteed Govt MSP Floor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Dynamic 3-Tier AI Price Protection Engine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Platform mathematically enforces MSP as legal minimum benchmark, calculating dynamic break-even elasticity multipliers to guarantee +32.4% farmer profit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INSTANT LIQUIDITY   •   ⚡ T+0 Instant Escrow Payouts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RBI-Verified Bank &amp; UPI Settlement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Smart escrow vault automatically locks buyer payments upon order placement and instantly disburses funds directly to farmer bank accounts upon digital QC receipt scan.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Unified 5-Stakeholder Digital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8288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🌾 SUPPLY SIDE</a:t>
            </a:r>
          </a:p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Kisan Farmer</a:t>
            </a:r>
          </a:p>
          <a:p>
            <a:pPr>
              <a:spcAft>
                <a:spcPts val="1000"/>
              </a:spcAft>
              <a:defRPr sz="1050">
                <a:solidFill>
                  <a:srgbClr val="38BDF8"/>
                </a:solidFill>
              </a:defRPr>
            </a:pPr>
            <a:r>
              <a:t>Ramesh Patil (Nashik)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1-Tap photo avatar login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Spoken Voice OTP in 11 langs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Harvest listing &amp; AI price advice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Live T+0 bank payout tracker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1508" y="1645920"/>
            <a:ext cx="196596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8288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🏢 DEMAND SIDE</a:t>
            </a:r>
          </a:p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Institutional Buyer</a:t>
            </a:r>
          </a:p>
          <a:p>
            <a:pPr>
              <a:spcAft>
                <a:spcPts val="1000"/>
              </a:spcAft>
              <a:defRPr sz="1050">
                <a:solidFill>
                  <a:srgbClr val="38BDF8"/>
                </a:solidFill>
              </a:defRPr>
            </a:pPr>
            <a:r>
              <a:t>Priya Sharma (BigBasket)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40+ produce wholesale catalog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Escrow-protected bulk cart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Digital Sugar Brix QC verify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Automated tax invoices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11496" y="1645920"/>
            <a:ext cx="196596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8288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🚚 LOGISTICS</a:t>
            </a:r>
          </a:p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Reefer Driver</a:t>
            </a:r>
          </a:p>
          <a:p>
            <a:pPr>
              <a:spcAft>
                <a:spcPts val="1000"/>
              </a:spcAft>
              <a:defRPr sz="1050">
                <a:solidFill>
                  <a:srgbClr val="38BDF8"/>
                </a:solidFill>
              </a:defRPr>
            </a:pPr>
            <a:r>
              <a:t>Suresh Mane (Fleet)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Turn-by-turn cold GPS navigation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IoT sensor climate monitor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Offline battery-saver telemetry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Cryptographic QR waybill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1484" y="1645920"/>
            <a:ext cx="196596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8288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🔬 QUALITY CONTROL</a:t>
            </a:r>
          </a:p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QC Inspector</a:t>
            </a:r>
          </a:p>
          <a:p>
            <a:pPr>
              <a:spcAft>
                <a:spcPts val="1000"/>
              </a:spcAft>
              <a:defRPr sz="1050">
                <a:solidFill>
                  <a:srgbClr val="38BDF8"/>
                </a:solidFill>
              </a:defRPr>
            </a:pPr>
            <a:r>
              <a:t>Dr. Swaminathan (Agronomist)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AI computer-vision freshness test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Optical Sugar Brix grading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Shelf-life decay verification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Instant lot clearance cert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91472" y="1645920"/>
            <a:ext cx="196596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82880" bIns="137160"/>
          <a:lstStyle/>
          <a:p>
            <a:pPr algn="ctr"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👔 GOVERNANCE</a:t>
            </a:r>
          </a:p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Staff Executive</a:t>
            </a:r>
          </a:p>
          <a:p>
            <a:pPr>
              <a:spcAft>
                <a:spcPts val="1000"/>
              </a:spcAft>
              <a:defRPr sz="1050">
                <a:solidFill>
                  <a:srgbClr val="38BDF8"/>
                </a:solidFill>
              </a:defRPr>
            </a:pPr>
            <a:r>
              <a:t>Admin / Audit Officer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4-Digit MPIN security gate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DPDP Act 2023 bank masking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Real-time NEFT/UPI UTR audit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Cluster savings realization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Built for Rural India: Zero-Friction Farmer Accessibility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🎙️ 11 Indian Languages + Voice Output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Spoken Dialect Audio Accessibility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Real-time speech synthesis and interface localization across Tamil, Hindi, Malayalam, Telugu, Kannada, Bengali, Marathi, Gujarati, Punjabi, Odia, and English for illiterate farmers.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⚡ 1-Tap Biometric &amp; Avatar Login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Dead-Simple Passwordless UX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Eliminates complex alphanumeric passwords. Farmers authenticate instantly via high-contrast photo avatars, SMS OTP bypass, and 1-click remembered hardware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📞 24x7 Toll-Free Kisan Call Center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Direct 1800-180-1551 Integration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Built-in 1-tap phone dialer connects rural farmers immediately to government agricultural scientists, agronomists, and logistics dispatchers in their local dialects.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📲 Credential Recovery &amp; Phone OTP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Self-Service Rural Security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Failsafe identity sync enables farmers to recover account access, update phone numbers, and verify bank payout accounts effortlessly via fast mobile OTP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Government MSP Protection &amp; 3-Tier Dynamic Price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099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🏛️ The 3-Tier Pricing Model</a:t>
            </a:r>
          </a:p>
          <a:p>
            <a:pPr>
              <a:spcAft>
                <a:spcPts val="200"/>
              </a:spcAft>
              <a:defRPr sz="1150" b="1">
                <a:solidFill>
                  <a:srgbClr val="34D399"/>
                </a:solidFill>
              </a:defRPr>
            </a:pPr>
            <a:r>
              <a:t>• Tier 1: Government MSP Legal Floor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Statutory minimum benchmark set by CACP (Ministry of Agriculture). Platform algorithms hard-reject any transactions below this price floor.</a:t>
            </a:r>
          </a:p>
          <a:p>
            <a:pPr>
              <a:spcAft>
                <a:spcPts val="200"/>
              </a:spcAft>
              <a:defRPr sz="1150" b="1">
                <a:solidFill>
                  <a:srgbClr val="FBBF24"/>
                </a:solidFill>
              </a:defRPr>
            </a:pPr>
            <a:r>
              <a:t>• Tier 2: APMC Mandi Distress Auction Rate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Prevailing local mandi spot price, traditionally depressed by cartel bidding, storage delays, and perishable decay risks.</a:t>
            </a:r>
          </a:p>
          <a:p>
            <a:pPr>
              <a:spcAft>
                <a:spcPts val="200"/>
              </a:spcAft>
              <a:defRPr sz="1150" b="1">
                <a:solidFill>
                  <a:srgbClr val="38BDF8"/>
                </a:solidFill>
              </a:defRPr>
            </a:pPr>
            <a:r>
              <a:t>• Tier 3: AgriFlow Direct Guaranteed Rate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Dynamic farmgate rate calculated via Open-Meteo weather risk indices + APMC trend regression + institutional procurement premiums (+32.4% avg uplift).</a:t>
            </a:r>
          </a:p>
          <a:p>
            <a:pPr>
              <a:spcAft>
                <a:spcPts val="200"/>
              </a:spcAft>
              <a:defRPr sz="1150" b="1">
                <a:solidFill>
                  <a:srgbClr val="CBD5E1"/>
                </a:solidFill>
              </a:defRPr>
            </a:pPr>
            <a:r>
              <a:t>• Real-Time Margin Transparency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Farmers and FPO managers view live ₹/kg profit gains compared side-by-side against Mandi distress rates and Govt MSP baselines.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645920"/>
            <a:ext cx="518099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📊 Live Produce Realization Benchmarks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</a:defRPr>
            </a:pPr>
            <a:r>
              <a:t>🧅 Nashik Red Onion</a:t>
            </a:r>
          </a:p>
          <a:p>
            <a:pPr>
              <a:spcAft>
                <a:spcPts val="100"/>
              </a:spcAft>
              <a:defRPr sz="1050" b="1">
                <a:solidFill>
                  <a:srgbClr val="34D399"/>
                </a:solidFill>
              </a:defRPr>
            </a:pPr>
            <a:r>
              <a:t>  ⚡ AgriFlow: ₹38.50/kg (+60% Gain)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📉 Govt MSP: ₹24.00 | Mandi Distress: ₹22.00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</a:defRPr>
            </a:pPr>
            <a:r>
              <a:t>🥭 Ratnagiri Alphonso Mango</a:t>
            </a:r>
          </a:p>
          <a:p>
            <a:pPr>
              <a:spcAft>
                <a:spcPts val="100"/>
              </a:spcAft>
              <a:defRPr sz="1050" b="1">
                <a:solidFill>
                  <a:srgbClr val="34D399"/>
                </a:solidFill>
              </a:defRPr>
            </a:pPr>
            <a:r>
              <a:t>  ⚡ AgriFlow: ₹210.00/kg (+50% Gain)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📉 Govt MSP: ₹140.00 | Mandi Distress: ₹135.00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</a:defRPr>
            </a:pPr>
            <a:r>
              <a:t>🍅 Pusa Ruby Tomato (Hybrid)</a:t>
            </a:r>
          </a:p>
          <a:p>
            <a:pPr>
              <a:spcAft>
                <a:spcPts val="100"/>
              </a:spcAft>
              <a:defRPr sz="1050" b="1">
                <a:solidFill>
                  <a:srgbClr val="34D399"/>
                </a:solidFill>
              </a:defRPr>
            </a:pPr>
            <a:r>
              <a:t>  ⚡ AgriFlow: ₹28.00/kg (+55% Gain)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📉 Govt MSP: ₹18.00 | Mandi Distress: ₹14.00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</a:defRPr>
            </a:pPr>
            <a:r>
              <a:t>🍌 Jalgaon Grand Naine Banana</a:t>
            </a:r>
          </a:p>
          <a:p>
            <a:pPr>
              <a:spcAft>
                <a:spcPts val="100"/>
              </a:spcAft>
              <a:defRPr sz="1050" b="1">
                <a:solidFill>
                  <a:srgbClr val="34D399"/>
                </a:solidFill>
              </a:defRPr>
            </a:pPr>
            <a:r>
              <a:t>  ⚡ AgriFlow: ₹24.00/kg (+50% Gain)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📉 Govt MSP: ₹16.00 | Mandi Distress: ₹15.00</a:t>
            </a:r>
          </a:p>
          <a:p>
            <a:pPr>
              <a:spcAft>
                <a:spcPts val="100"/>
              </a:spcAft>
              <a:defRPr sz="1150" b="1">
                <a:solidFill>
                  <a:srgbClr val="FFFFFF"/>
                </a:solidFill>
              </a:defRPr>
            </a:pPr>
            <a:r>
              <a:t>🥔 Pukraj Seed Potato</a:t>
            </a:r>
          </a:p>
          <a:p>
            <a:pPr>
              <a:spcAft>
                <a:spcPts val="100"/>
              </a:spcAft>
              <a:defRPr sz="1050" b="1">
                <a:solidFill>
                  <a:srgbClr val="34D399"/>
                </a:solidFill>
              </a:defRPr>
            </a:pPr>
            <a:r>
              <a:t>  ⚡ AgriFlow: ₹22.00/kg (+46% Gain)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📉 Govt MSP: ₹15.00 | Mandi Distress: ₹13.50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Confidential Staff Audit &amp; Secure Bank Ledger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🔐 4-Digit MPIN Security Gate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Executive Boss &amp; Staff Access Control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Guards sensitive financial data. Only authorized staff and executives with a verified cryptographic 4-digit MPIN can view cluster payout aggregates and bank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🛡️ DPDP Act 2023 Bank Masking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Farmer Financial Privacy Protection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Sensitive bank account numbers and IFSC codes are dynamically masked (•••• •••• 4412) with a secure 1-tap unmask toggle for authorized compliance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💸 T+0 Direct Settlement Ledger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Instant NEFT / RTGS / UPI Transaction UTR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Individual farmer ledger records with real-time disbursement status, bank transaction UTR numbers, timestamp hashes, and zero-commission fee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📊 Cluster Savings Analytics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FPO Realization &amp; Elimination Metrics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Live executive dashboard tracking ₹4.82+ Crores disbursed, ₹1.48+ Crores saved in middleman commission cuts, and 99.4% freshness grade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Cold-Chain Telematics &amp; Active Perishable Preservation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350" b="1">
                <a:solidFill>
                  <a:srgbClr val="FFFFFF"/>
                </a:solidFill>
              </a:defRPr>
            </a:pPr>
            <a:r>
              <a:t>HARDWARE SENSORS   •   ❄️ 0-4°C Multi-Sensor IoT Telematics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Microcontroller Hardware Telemetry Pipeline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Continuous sampling via ESP32 / Teltonika FMB920 gateways: DS18B20 digital temperature probe (±0.1°C), DHT22 relative humidity sensor (85-90% RH), and MQ-4 ethylene gas ppm sensor.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645920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350" b="1">
                <a:solidFill>
                  <a:srgbClr val="FFFFFF"/>
                </a:solidFill>
              </a:defRPr>
            </a:pPr>
            <a:r>
              <a:t>PREDICTIVE AI   •   📉 Arrhenius Kinetic Decay Modeling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AI Spoilage Risk &amp; Shelf-Life Calculation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Real-time shelf-life loss computation (k = A·e^(-Ea/RT)) comparing ambient storage degradation (3-4 days) vs active cold-chain stabilization (18-21 days) with automatic quality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350" b="1">
                <a:solidFill>
                  <a:srgbClr val="FFFFFF"/>
                </a:solidFill>
              </a:defRPr>
            </a:pPr>
            <a:r>
              <a:t>SMART ROUTING   •   🗺️ Dynamic Cold-Corridor GPS Routing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Autonomous Heat &amp; Congestion Avoidance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Live PostGIS GPS telemetry streams trigger automatic re-routing away from urban heat islands and road gridlocks, preserving cooling compressor battery cycles and cargo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4041648"/>
            <a:ext cx="5180990" cy="21762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sz="1350" b="1">
                <a:solidFill>
                  <a:srgbClr val="FFFFFF"/>
                </a:solidFill>
              </a:defRPr>
            </a:pPr>
            <a:r>
              <a:t>QC PROVENANCE   •   📱 Cryptographic QR Cold Waybill</a:t>
            </a:r>
          </a:p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</a:defRPr>
            </a:pPr>
            <a:r>
              <a:t>Tamper-Proof Farm-to-Fork Provenance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Generates immutable SHA-256 digital waybills encoding farm origin, continuous reefer temperature compliance, and driver GPS timestamps for buyer receipt sign-off.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Comprehensive 40+ Indian Vegetables Database &amp; Sourcing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8099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</a:defRPr>
            </a:pPr>
            <a:r>
              <a:t>🥔 Roots &amp; Tubers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Potato (Jyoti, Pukraj), Red Onion (Nashik), Carrot, Beetroot, Radish, Ginger, Garlic, Sweet Potato, Colocasia (Arbi), Elephant Foot Yam.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645920"/>
            <a:ext cx="518099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</a:defRPr>
            </a:pPr>
            <a:r>
              <a:t>🥬 Leafy Greens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Palak (Spinach), Methi (Fenugreek), Coriander, Curry Leaves, Mustard Greens (Sarson), Amaranth (Chaulai), Mint (Pudina), Dill Leaves (Shepu).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18099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</a:defRPr>
            </a:pPr>
            <a:r>
              <a:t>🥒 Gourds &amp; Squashes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Bottle Gourd (Lauki), Bitter Gourd (Karela), Ridge Gourd (Turai), Sponge Gourd (Gilki), Ivy Gourd (Tindora), Pumpkin (Kaddu), Snake Gourd.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270" y="3246120"/>
            <a:ext cx="518099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</a:defRPr>
            </a:pPr>
            <a:r>
              <a:t>🥦 Brassicas &amp; Cruciferous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Cauliflower (Pusa Snowball), Green Cabbage, Broccoli, Knol Khol (Ganth Gobi), Red Cabbage, Brussels Sprouts.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18099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</a:defRPr>
            </a:pPr>
            <a:r>
              <a:t>🍅 Solanaceous Nightshades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Tomato (Pusa Ruby Hybrid, Desi), Green Chilli (G-4, Jwala), Red/Yellow Bell Peppers, Green Capsicum, Brinjal (Bharta, Small Round).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4846320"/>
            <a:ext cx="5180990" cy="1371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</a:defRPr>
            </a:pPr>
            <a:r>
              <a:t>🫛 Pods, Legumes &amp; Alliums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Green Peas (Matar), Okra / Ladyfinger (Bhindi), Cluster Beans (Gawar), French Beans, Drumstick (Moringa), Spring Onions, Cowpeas (Lobia).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Production-Grade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🖥️ Frontend Architecture  —  </a:t>
            </a:r>
            <a:r>
              <a:rPr sz="1050" b="0">
                <a:solidFill>
                  <a:srgbClr val="CBD5E1"/>
                </a:solidFill>
              </a:rPr>
              <a:t>Next.js 16 App Router, React 19, TypeScript, Tailwind CSS, Glassmorphic UI, Leaflet GIS Maps, Chart.js Telematics.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87752"/>
            <a:ext cx="10728655" cy="8046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🎵 Naturistic SoundEngine  —  </a:t>
            </a:r>
            <a:r>
              <a:rPr sz="1050" b="0">
                <a:solidFill>
                  <a:srgbClr val="CBD5E1"/>
                </a:solidFill>
              </a:rPr>
              <a:t>Web Audio API 528Hz acoustic bamboo feedback for intuitive tactile sensory response across all rural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9584"/>
            <a:ext cx="10728655" cy="8046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🗄️ Relational Database &amp; WAL  —  </a:t>
            </a:r>
            <a:r>
              <a:rPr sz="1050" b="0">
                <a:solidFill>
                  <a:srgbClr val="CBD5E1"/>
                </a:solidFill>
              </a:rPr>
              <a:t>Supabase PostgreSQL with Realtime postgres_changes WebSocket broadcast, PostGIS geospatial tracking &amp; RLS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71416"/>
            <a:ext cx="10728655" cy="8046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Microservices &amp; API Layer  —  </a:t>
            </a:r>
            <a:r>
              <a:rPr sz="1050" b="0">
                <a:solidFill>
                  <a:srgbClr val="CBD5E1"/>
                </a:solidFill>
              </a:rPr>
              <a:t>Next.js Serverless Route Handlers + Node.js gateways for Farmer (:5001), Buyer (:5002), and Logistics (:5003).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13248"/>
            <a:ext cx="10728655" cy="8046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🔒 Security &amp; Data Privacy  —  </a:t>
            </a:r>
            <a:r>
              <a:rPr sz="1050" b="0">
                <a:solidFill>
                  <a:srgbClr val="CBD5E1"/>
                </a:solidFill>
              </a:rPr>
              <a:t>DPDP Act 2023 bank masking, 4-digit MPIN authorization, SMS OTP verification, and SHA-256 smart escrow vaults.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Quantifiable Economic Impact &amp; Stakeholder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53335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 bIns="182880"/>
          <a:lstStyle/>
          <a:p>
            <a:pPr algn="ctr">
              <a:spcAft>
                <a:spcPts val="800"/>
              </a:spcAft>
              <a:defRPr sz="2800" b="1">
                <a:solidFill>
                  <a:srgbClr val="34D399"/>
                </a:solidFill>
              </a:defRPr>
            </a:pPr>
            <a:r>
              <a:t>35%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Spoilage Elimination</a:t>
            </a:r>
          </a:p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Post-Harvest Waste Reduction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Active 0-4°C reefer telematics and dynamic cold corridors protect perishable grade quality from farmgate aggregation to retail delivery shelves.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9350" y="1645920"/>
            <a:ext cx="2453335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 bIns="182880"/>
          <a:lstStyle/>
          <a:p>
            <a:pPr algn="ctr">
              <a:spcAft>
                <a:spcPts val="800"/>
              </a:spcAft>
              <a:defRPr sz="2800" b="1">
                <a:solidFill>
                  <a:srgbClr val="38BDF8"/>
                </a:solidFill>
              </a:defRPr>
            </a:pPr>
            <a:r>
              <a:t>+32.4%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Net Farmer Uplift</a:t>
            </a:r>
          </a:p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Direct Income Enhancement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Zero intermediary commission cuts + statutory MSP price floor protection delivers immediate higher cash realization per kilogram harvested.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7180" y="1645920"/>
            <a:ext cx="2453335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 bIns="182880"/>
          <a:lstStyle/>
          <a:p>
            <a:pPr algn="ctr">
              <a:spcAft>
                <a:spcPts val="800"/>
              </a:spcAft>
              <a:defRPr sz="2800" b="1">
                <a:solidFill>
                  <a:srgbClr val="FBBF24"/>
                </a:solidFill>
              </a:defRPr>
            </a:pPr>
            <a:r>
              <a:t>28%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Sourcing Savings</a:t>
            </a:r>
          </a:p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Institutional Buyer Advantage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Direct procurement from verified FPOs bypasses APMC mandi cess, eliminates transit spoilage risk, and compresses procurement turnaround.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5011" y="1645920"/>
            <a:ext cx="2453335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20040" bIns="182880"/>
          <a:lstStyle/>
          <a:p>
            <a:pPr algn="ctr">
              <a:spcAft>
                <a:spcPts val="800"/>
              </a:spcAft>
              <a:defRPr sz="2800" b="1">
                <a:solidFill>
                  <a:srgbClr val="A855F7"/>
                </a:solidFill>
              </a:defRPr>
            </a:pPr>
            <a:r>
              <a:t>T+0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Same-Day Cashflow</a:t>
            </a:r>
          </a:p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</a:defRPr>
            </a:pPr>
            <a:r>
              <a:t>Rural Liquidity Guarantee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Automated smart contract escrow settlement resolves chronic 45-day buyer credit cycles for smallholder farmers with instant bank deposits.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SMART INDIA HACKATHON 2026 • PROBLEM STATEMENT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National Scale, Future Roadmap &amp; SIH 2026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2412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ctr">
              <a:spcAft>
                <a:spcPts val="300"/>
              </a:spcAft>
              <a:defRPr sz="1350" b="1">
                <a:solidFill>
                  <a:srgbClr val="FFFFFF"/>
                </a:solidFill>
              </a:defRPr>
            </a:pPr>
            <a:r>
              <a:t>Phase 1: SIH 2026 Prototype (Current)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Full 5-stakeholder protocol, PostgreSQL database, 11 languages, 40+ veggies, MSP price model, and active telematics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25496"/>
            <a:ext cx="10728655" cy="102412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ctr">
              <a:spcAft>
                <a:spcPts val="300"/>
              </a:spcAft>
              <a:defRPr sz="1350" b="1">
                <a:solidFill>
                  <a:srgbClr val="FFFFFF"/>
                </a:solidFill>
              </a:defRPr>
            </a:pPr>
            <a:r>
              <a:t>Phase 2: ONDC Agri &amp; e-NAM Integration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Direct integration with National Agriculture Market and ONDC open network for nationwide buyer discovery and cross-mandi trade.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05072"/>
            <a:ext cx="10728655" cy="102412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ctr">
              <a:spcAft>
                <a:spcPts val="300"/>
              </a:spcAft>
              <a:defRPr sz="1350" b="1">
                <a:solidFill>
                  <a:srgbClr val="FFFFFF"/>
                </a:solidFill>
              </a:defRPr>
            </a:pPr>
            <a:r>
              <a:t>Phase 3: 500+ APMC Mandi Cold Corridors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Deploying solar-powered mobile cold hubs across Maharashtra, Punjab, Karnataka, and Tamil Nadu agricultural clusters.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84648"/>
            <a:ext cx="10728655" cy="102412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09728" bIns="109728"/>
          <a:lstStyle/>
          <a:p>
            <a:pPr algn="ctr">
              <a:spcAft>
                <a:spcPts val="300"/>
              </a:spcAft>
              <a:defRPr sz="1350" b="1">
                <a:solidFill>
                  <a:srgbClr val="FFFFFF"/>
                </a:solidFill>
              </a:defRPr>
            </a:pPr>
            <a:r>
              <a:t>Phase 4: Carbon Credit Monetization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Incentivizing zero-emission electric reefer fleets with tradable carbon credits for farmer producer cooperatives.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