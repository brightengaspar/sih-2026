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2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0B2E23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484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FBBF24"/>
                </a:solidFill>
              </a:defRPr>
            </a:pPr>
            <a:r>
              <a:t>SMART INDIA HACKATHON 2026 — PROBLEM STATEMENT 33</a:t>
            </a:r>
          </a:p>
          <a:p>
            <a:pPr>
              <a:spcAft>
                <a:spcPts val="800"/>
              </a:spcAft>
              <a:defRPr sz="4400" b="1">
                <a:solidFill>
                  <a:srgbClr val="34D399"/>
                </a:solidFill>
              </a:defRPr>
            </a:pPr>
            <a:r>
              <a:t>AgriFlow AI</a:t>
            </a:r>
          </a:p>
          <a:p>
            <a:pPr>
              <a:spcAft>
                <a:spcPts val="1600"/>
              </a:spcAft>
              <a:defRPr sz="2000" b="1">
                <a:solidFill>
                  <a:srgbClr val="FFFFFF"/>
                </a:solidFill>
              </a:defRPr>
            </a:pPr>
            <a:r>
              <a:t>Decentralized Smart Agri-Logistics &amp; Direct Procurement Protocol</a:t>
            </a:r>
          </a:p>
          <a:p>
            <a:pPr>
              <a:spcAft>
                <a:spcPts val="2400"/>
              </a:spcAft>
              <a:defRPr sz="1400">
                <a:solidFill>
                  <a:srgbClr val="94A3B8"/>
                </a:solidFill>
              </a:defRPr>
            </a:pPr>
            <a:r>
              <a:t>Empowering 140M+ Indian Farmers with AI Cold-Chain IoT Telematics, Direct Institutional Sourcing, and Guaranteed Above-MSP T+0 Bank Payouts.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🌾 Multi-Stakeholder Ecosystem • 11 Indian Languages • 0-4°C Active Cold Chain • T+0 RBI Escrow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2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BBF24"/>
                </a:solidFill>
              </a:defRPr>
            </a:pPr>
            <a:r>
              <a:t>SMART INDIA HACKATHON 2026 • PROBLEM STATEMENT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Ground Reality: Critical Challenges in Indian Perishable Supply Chain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0B2E23"/>
          </a:solidFill>
          <a:ln w="12700"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FBBF24"/>
                </a:solidFill>
              </a:defRPr>
            </a:pPr>
            <a:r>
              <a:t>35% - 40% Post-Harvest Loss</a:t>
            </a:r>
          </a:p>
          <a:p>
            <a:pPr>
              <a:spcAft>
                <a:spcPts val="1200"/>
              </a:spcAft>
              <a:defRPr sz="1200" b="1">
                <a:solidFill>
                  <a:srgbClr val="FBBF24"/>
                </a:solidFill>
              </a:defRPr>
            </a:pPr>
            <a:r>
              <a:t>Critical Cold-Chain Deficit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Lack of temperature-controlled logistics causes severe rotting of tomatoes, onions, and greens before reaching urban retail markets.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645920"/>
            <a:ext cx="3328416" cy="4389120"/>
          </a:xfrm>
          <a:prstGeom prst="roundRect">
            <a:avLst/>
          </a:prstGeom>
          <a:solidFill>
            <a:srgbClr val="0B2E23"/>
          </a:solidFill>
          <a:ln w="12700"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8576" y="182880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4D399"/>
                </a:solidFill>
              </a:defRPr>
            </a:pPr>
            <a:r>
              <a:t>4 - 6 Middlemen Intermediaries</a:t>
            </a:r>
          </a:p>
          <a:p>
            <a:pPr>
              <a:spcAft>
                <a:spcPts val="1200"/>
              </a:spcAft>
              <a:defRPr sz="1200" b="1">
                <a:solidFill>
                  <a:srgbClr val="FBBF24"/>
                </a:solidFill>
              </a:defRPr>
            </a:pPr>
            <a:r>
              <a:t>Exploitative APMC Value Leakage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Farmers realize only 25-30% of the consumer rupee. Commission agents and distress auctions force sales below cost of cultivation.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2" y="1645920"/>
            <a:ext cx="3328416" cy="4389120"/>
          </a:xfrm>
          <a:prstGeom prst="roundRect">
            <a:avLst/>
          </a:prstGeom>
          <a:solidFill>
            <a:srgbClr val="0B2E23"/>
          </a:solidFill>
          <a:ln w="12700"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2" y="182880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FFFFFF"/>
                </a:solidFill>
              </a:defRPr>
            </a:pPr>
            <a:r>
              <a:t>Distress Sales Below Govt MSP</a:t>
            </a:r>
          </a:p>
          <a:p>
            <a:pPr>
              <a:spcAft>
                <a:spcPts val="1200"/>
              </a:spcAft>
              <a:defRPr sz="1200" b="1">
                <a:solidFill>
                  <a:srgbClr val="FBBF24"/>
                </a:solidFill>
              </a:defRPr>
            </a:pPr>
            <a:r>
              <a:t>Financial Vulnerability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Absence of transparent benchmark data leaves rural farmers without price discovery, forcing sales at heavy distress discounts during bumper harvests.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2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BBF24"/>
                </a:solidFill>
              </a:defRPr>
            </a:pPr>
            <a:r>
              <a:t>SMART INDIA HACKATHON 2026 • PROBLEM STATEMENT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AgriFlow AI Solution: End-to-End Agri-Logistics Innovation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4D399"/>
                </a:solidFill>
              </a:defRPr>
            </a:pPr>
            <a:r>
              <a:t>🌾 Direct Farmgate Aggregation</a:t>
            </a:r>
          </a:p>
          <a:p>
            <a:pPr>
              <a:spcAft>
                <a:spcPts val="600"/>
              </a:spcAft>
              <a:defRPr sz="1100" b="1">
                <a:solidFill>
                  <a:srgbClr val="FBBF24"/>
                </a:solidFill>
              </a:defRPr>
            </a:pPr>
            <a:r>
              <a:t>Eliminates APMC Middlemen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Connects FPOs directly to BigBasket, Zepto, and Reliance Retail with smart batch quality grading and 0% commission fees.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4D399"/>
                </a:solidFill>
              </a:defRPr>
            </a:pPr>
            <a:r>
              <a:t>❄️ 0-4°C IoT Cold Chain</a:t>
            </a:r>
          </a:p>
          <a:p>
            <a:pPr>
              <a:spcAft>
                <a:spcPts val="600"/>
              </a:spcAft>
              <a:defRPr sz="1100" b="1">
                <a:solidFill>
                  <a:srgbClr val="FBBF24"/>
                </a:solidFill>
              </a:defRPr>
            </a:pPr>
            <a:r>
              <a:t>Active Telematics &amp; Routing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Live Sugar Brix, ethylene, humidity &amp; temperature sensors with automated rerouting to maximize shelf-life retention.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4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4D399"/>
                </a:solidFill>
              </a:defRPr>
            </a:pPr>
            <a:r>
              <a:t>🛡️ Guaranteed Govt MSP Floor</a:t>
            </a:r>
          </a:p>
          <a:p>
            <a:pPr>
              <a:spcAft>
                <a:spcPts val="600"/>
              </a:spcAft>
              <a:defRPr sz="1100" b="1">
                <a:solidFill>
                  <a:srgbClr val="FBBF24"/>
                </a:solidFill>
              </a:defRPr>
            </a:pPr>
            <a:r>
              <a:t>3-Tier Dynamic Pricing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Automated price protection model ensuring farmer payouts always exceed Mandi distress rates and Govt MSP floors.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7764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4D399"/>
                </a:solidFill>
              </a:defRPr>
            </a:pPr>
            <a:r>
              <a:t>⚡ T+0 Instant Escrow Payouts</a:t>
            </a:r>
          </a:p>
          <a:p>
            <a:pPr>
              <a:spcAft>
                <a:spcPts val="600"/>
              </a:spcAft>
              <a:defRPr sz="1100" b="1">
                <a:solidFill>
                  <a:srgbClr val="FBBF24"/>
                </a:solidFill>
              </a:defRPr>
            </a:pPr>
            <a:r>
              <a:t>RBI-Verified Bank Settlement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Smart contract escrow automatically credits farmer bank accounts via UPI/NEFT upon QC waybill scan.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2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BBF24"/>
                </a:solidFill>
              </a:defRPr>
            </a:pPr>
            <a:r>
              <a:t>SMART INDIA HACKATHON 2026 • PROBLEM STATEMENT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Unified 5-Stakeholder Digital Ecosystem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011680" cy="4389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4D399"/>
                </a:solidFill>
              </a:defRPr>
            </a:pPr>
            <a:r>
              <a:t>🌾 Kisan Farmer</a:t>
            </a:r>
          </a:p>
          <a:p>
            <a:pPr>
              <a:spcAft>
                <a:spcPts val="800"/>
              </a:spcAft>
              <a:defRPr sz="1000" b="1">
                <a:solidFill>
                  <a:srgbClr val="FBBF24"/>
                </a:solidFill>
              </a:defRPr>
            </a:pPr>
            <a:r>
              <a:t>Ramesh Patil (Nashik)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1-tap avatar login, spoken voice OTP, farmgate dispatch scheduler, live bank payout ledger.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2" y="1645920"/>
            <a:ext cx="2011680" cy="4389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2" y="178308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4D399"/>
                </a:solidFill>
              </a:defRPr>
            </a:pPr>
            <a:r>
              <a:t>🏢 Institutional Buyer</a:t>
            </a:r>
          </a:p>
          <a:p>
            <a:pPr>
              <a:spcAft>
                <a:spcPts val="800"/>
              </a:spcAft>
              <a:defRPr sz="1000" b="1">
                <a:solidFill>
                  <a:srgbClr val="FBBF24"/>
                </a:solidFill>
              </a:defRPr>
            </a:pPr>
            <a:r>
              <a:t>Priya Sharma (BigBasket)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Direct 40+ vegetable sourcing catalog, escrow procurement basket, batch Brix quality certification.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645920"/>
            <a:ext cx="2011680" cy="4389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1224" y="178308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4D399"/>
                </a:solidFill>
              </a:defRPr>
            </a:pPr>
            <a:r>
              <a:t>🚚 Reefer Driver</a:t>
            </a:r>
          </a:p>
          <a:p>
            <a:pPr>
              <a:spcAft>
                <a:spcPts val="800"/>
              </a:spcAft>
              <a:defRPr sz="1000" b="1">
                <a:solidFill>
                  <a:srgbClr val="FBBF24"/>
                </a:solidFill>
              </a:defRPr>
            </a:pPr>
            <a:r>
              <a:t>Suresh Mane (Fleet)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IoT telematics dashboard, ambient vs cold degradation tracker, digital waybill QR verification.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45920"/>
            <a:ext cx="2011680" cy="4389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97496" y="178308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4D399"/>
                </a:solidFill>
              </a:defRPr>
            </a:pPr>
            <a:r>
              <a:t>🔬 QC Inspector</a:t>
            </a:r>
          </a:p>
          <a:p>
            <a:pPr>
              <a:spcAft>
                <a:spcPts val="800"/>
              </a:spcAft>
              <a:defRPr sz="1000" b="1">
                <a:solidFill>
                  <a:srgbClr val="FBBF24"/>
                </a:solidFill>
              </a:defRPr>
            </a:pPr>
            <a:r>
              <a:t>Dr. Swaminathan (Agronomist)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AI freshness computer vision, digital Sugar Brix grading, automated lot clearance.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1645920"/>
            <a:ext cx="2011680" cy="4389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178308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4D399"/>
                </a:solidFill>
              </a:defRPr>
            </a:pPr>
            <a:r>
              <a:t>👔 Boss &amp; Staff Executive</a:t>
            </a:r>
          </a:p>
          <a:p>
            <a:pPr>
              <a:spcAft>
                <a:spcPts val="800"/>
              </a:spcAft>
              <a:defRPr sz="1000" b="1">
                <a:solidFill>
                  <a:srgbClr val="FBBF24"/>
                </a:solidFill>
              </a:defRPr>
            </a:pPr>
            <a:r>
              <a:t>Admin / Audit Officer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MPIN-secured confidential farmer earnings ledger, UTR bank settlement audit, system health.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2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BBF24"/>
                </a:solidFill>
              </a:defRPr>
            </a:pPr>
            <a:r>
              <a:t>SMART INDIA HACKATHON 2026 • PROBLEM STATEMENT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Built for Rural India: Zero-Friction Farmer Accessibility Suite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BBF24"/>
                </a:solidFill>
              </a:defRPr>
            </a:pPr>
            <a:r>
              <a:t>🎙️ 11 Indian Languages + Voice Output</a:t>
            </a:r>
          </a:p>
          <a:p>
            <a:pPr>
              <a:spcAft>
                <a:spcPts val="600"/>
              </a:spcAft>
              <a:defRPr sz="1100" b="1">
                <a:solidFill>
                  <a:srgbClr val="34D399"/>
                </a:solidFill>
              </a:defRPr>
            </a:pPr>
            <a:r>
              <a:t>Spoken Accessibility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Real-time speech synthesis and interface localization across Tamil, Hindi, Malayalam, Telugu, Kannada, Bengali, Marathi, Gujarati, Punjabi, Odia, and English.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BBF24"/>
                </a:solidFill>
              </a:defRPr>
            </a:pPr>
            <a:r>
              <a:t>⚡ 1-Tap Biometric &amp; Avatar Login</a:t>
            </a:r>
          </a:p>
          <a:p>
            <a:pPr>
              <a:spcAft>
                <a:spcPts val="600"/>
              </a:spcAft>
              <a:defRPr sz="1100" b="1">
                <a:solidFill>
                  <a:srgbClr val="34D399"/>
                </a:solidFill>
              </a:defRPr>
            </a:pPr>
            <a:r>
              <a:t>Dead-Simple UX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No complicated passwords required for rural farmers. High-visibility photo avatars and 1-click instant login launchpad.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4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BBF24"/>
                </a:solidFill>
              </a:defRPr>
            </a:pPr>
            <a:r>
              <a:t>📞 24x7 Toll-Free Kisan Call Center</a:t>
            </a:r>
          </a:p>
          <a:p>
            <a:pPr>
              <a:spcAft>
                <a:spcPts val="600"/>
              </a:spcAft>
              <a:defRPr sz="1100" b="1">
                <a:solidFill>
                  <a:srgbClr val="34D399"/>
                </a:solidFill>
              </a:defRPr>
            </a:pPr>
            <a:r>
              <a:t>1800-180-1551 Integration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Direct 1-tap dialer for immediate agricultural advisory and logistics coordination in regional dialects.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7764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BBF24"/>
                </a:solidFill>
              </a:defRPr>
            </a:pPr>
            <a:r>
              <a:t>📲 Credential Recovery &amp; OTP System</a:t>
            </a:r>
          </a:p>
          <a:p>
            <a:pPr>
              <a:spcAft>
                <a:spcPts val="600"/>
              </a:spcAft>
              <a:defRPr sz="1100" b="1">
                <a:solidFill>
                  <a:srgbClr val="34D399"/>
                </a:solidFill>
              </a:defRPr>
            </a:pPr>
            <a:r>
              <a:t>Self-Service Security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Simple SMS OTP verification to retrieve lost User IDs, reset passwords, and edit farmer profile handles.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2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BBF24"/>
                </a:solidFill>
              </a:defRPr>
            </a:pPr>
            <a:r>
              <a:t>SMART INDIA HACKATHON 2026 • PROBLEM STATEMENT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Government MSP Protection &amp; 3-Tier Dynamic Price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BBF24"/>
                </a:solidFill>
              </a:defRPr>
            </a:pPr>
            <a:r>
              <a:t>The 3-Tier Price Engine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🏛️ Govt MSP Floor: Legal benchmark set by CACP (Ministry of Agriculture). Platform never allows farmgate transactions below this threshold.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📉 APMC Distress Rate: Local mandi auction price dragged down by middleman cartels, delays, and spoilage risks.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⚡ AgriFlow Direct Price: Guaranteed farmgate rate offering +32% average revenue uplift directly to farmers.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</a:defRPr>
            </a:pPr>
            <a:r>
              <a:t>📈 Real-Time Gain Transparency: Farmers see exact ₹/kg gain over both Mandi Distress and Govt MSP.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0B2E23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34D399"/>
                </a:solidFill>
              </a:defRPr>
            </a:pPr>
            <a:r>
              <a:t>Real Produce Price Comparison (Sample)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</a:defRPr>
            </a:pPr>
            <a:r>
              <a:t>• Nashik Red Onion: AgriFlow: ₹38.50 (+60% Gain) [MSP: ₹24.00 | Mandi: ₹22.00]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</a:defRPr>
            </a:pPr>
            <a:r>
              <a:t>• Ratnagiri Alphonso: AgriFlow: ₹210.00 (+50% Gain) [MSP: ₹140.00 | Mandi: ₹135.00]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</a:defRPr>
            </a:pPr>
            <a:r>
              <a:t>• Pusa Ruby Tomato: AgriFlow: ₹28.00 (+55% Gain) [MSP: ₹18.00 | Mandi: ₹14.00]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</a:defRPr>
            </a:pPr>
            <a:r>
              <a:t>• Jalgaon Banana: AgriFlow: ₹24.00 (+50% Gain) [MSP: ₹16.00 | Mandi: ₹15.00]</a:t>
            </a:r>
          </a:p>
          <a:p>
            <a:pPr>
              <a:spcAft>
                <a:spcPts val="600"/>
              </a:spcAft>
              <a:defRPr sz="1100">
                <a:solidFill>
                  <a:srgbClr val="FFFFFF"/>
                </a:solidFill>
              </a:defRPr>
            </a:pPr>
            <a:r>
              <a:t>• Average across 40+ Veggies: +32.4% Net Income [Guaranteed Floor | Zero Commission]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2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BBF24"/>
                </a:solidFill>
              </a:defRPr>
            </a:pPr>
            <a:r>
              <a:t>SMART INDIA HACKATHON 2026 • PROBLEM STATEMENT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Confidential Staff Audit &amp; Secure Bank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4D399"/>
                </a:solidFill>
              </a:defRPr>
            </a:pPr>
            <a:r>
              <a:t>🔐 4-Digit MPIN Security Gate</a:t>
            </a:r>
          </a:p>
          <a:p>
            <a:pPr>
              <a:spcAft>
                <a:spcPts val="600"/>
              </a:spcAft>
              <a:defRPr sz="1100" b="1">
                <a:solidFill>
                  <a:srgbClr val="FBBF24"/>
                </a:solidFill>
              </a:defRPr>
            </a:pPr>
            <a:r>
              <a:t>Executive Boss Authentication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Guards sensitive financial data. Only authorized staff and executives with valid MPIN can view cluster payout aggregates and bank accounts.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4D399"/>
                </a:solidFill>
              </a:defRPr>
            </a:pPr>
            <a:r>
              <a:t>🛡️ DPDP Act 2023 Bank Masking</a:t>
            </a:r>
          </a:p>
          <a:p>
            <a:pPr>
              <a:spcAft>
                <a:spcPts val="600"/>
              </a:spcAft>
              <a:defRPr sz="1100" b="1">
                <a:solidFill>
                  <a:srgbClr val="FBBF24"/>
                </a:solidFill>
              </a:defRPr>
            </a:pPr>
            <a:r>
              <a:t>Farmer Data Confidentiality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Sensitive bank account numbers and IFSC codes are dynamically masked (•••• •••• 4412) with a secure 1-tap unmask toggle for audits.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4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4D399"/>
                </a:solidFill>
              </a:defRPr>
            </a:pPr>
            <a:r>
              <a:t>💸 T+0 Direct Settlement Ledger</a:t>
            </a:r>
          </a:p>
          <a:p>
            <a:pPr>
              <a:spcAft>
                <a:spcPts val="600"/>
              </a:spcAft>
              <a:defRPr sz="1100" b="1">
                <a:solidFill>
                  <a:srgbClr val="FBBF24"/>
                </a:solidFill>
              </a:defRPr>
            </a:pPr>
            <a:r>
              <a:t>Instant UPI / NEFT UTR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Individual farmer ledger records with real-time disbursement status, bank transaction UTR numbers, and zero-commission confirmation.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7764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4D399"/>
                </a:solidFill>
              </a:defRPr>
            </a:pPr>
            <a:r>
              <a:t>📊 Cluster Savings Analytics</a:t>
            </a:r>
          </a:p>
          <a:p>
            <a:pPr>
              <a:spcAft>
                <a:spcPts val="600"/>
              </a:spcAft>
              <a:defRPr sz="1100" b="1">
                <a:solidFill>
                  <a:srgbClr val="FBBF24"/>
                </a:solidFill>
              </a:defRPr>
            </a:pPr>
            <a:r>
              <a:t>FPO Realization Metrics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Live dashboard tracking ₹4.82+ Crores disbursed, ₹1.48+ Crores saved in middleman commission cuts, and 99.4% freshness retention.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2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BBF24"/>
                </a:solidFill>
              </a:defRPr>
            </a:pPr>
            <a:r>
              <a:t>SMART INDIA HACKATHON 2026 • PROBLEM STATEMENT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AI Cold-Chain Telematics &amp; Active Perishable Preservation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BBF24"/>
                </a:solidFill>
              </a:defRPr>
            </a:pPr>
            <a:r>
              <a:t>❄️ 0-4°C Multi-Sensor IoT</a:t>
            </a:r>
          </a:p>
          <a:p>
            <a:pPr>
              <a:spcAft>
                <a:spcPts val="600"/>
              </a:spcAft>
              <a:defRPr sz="1100" b="1">
                <a:solidFill>
                  <a:srgbClr val="34D399"/>
                </a:solidFill>
              </a:defRPr>
            </a:pPr>
            <a:r>
              <a:t>Real-Time Telemetry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Continuous tracking of temperature, relative humidity (85-90%), and ethylene gas ppm inside active reefer vans.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BBF24"/>
                </a:solidFill>
              </a:defRPr>
            </a:pPr>
            <a:r>
              <a:t>📉 Arrhenius Decay Modeling</a:t>
            </a:r>
          </a:p>
          <a:p>
            <a:pPr>
              <a:spcAft>
                <a:spcPts val="600"/>
              </a:spcAft>
              <a:defRPr sz="1100" b="1">
                <a:solidFill>
                  <a:srgbClr val="34D399"/>
                </a:solidFill>
              </a:defRPr>
            </a:pPr>
            <a:r>
              <a:t>AI Shelf-Life Prediction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Predicts shelf-life decay comparing ambient storage (4-5 days) vs active cold-chain (18-21 days) in real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4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BBF24"/>
                </a:solidFill>
              </a:defRPr>
            </a:pPr>
            <a:r>
              <a:t>🗺️ Dynamic GPS Cold Routing</a:t>
            </a:r>
          </a:p>
          <a:p>
            <a:pPr>
              <a:spcAft>
                <a:spcPts val="600"/>
              </a:spcAft>
              <a:defRPr sz="1100" b="1">
                <a:solidFill>
                  <a:srgbClr val="34D399"/>
                </a:solidFill>
              </a:defRPr>
            </a:pPr>
            <a:r>
              <a:t>Traffic &amp; Heat Avoidance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Automatically reroutes refrigerated trucks away from extreme heat corridors and congestion to preserve cargo quality.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77640"/>
            <a:ext cx="5166360" cy="2103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114800"/>
            <a:ext cx="4800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BBF24"/>
                </a:solidFill>
              </a:defRPr>
            </a:pPr>
            <a:r>
              <a:t>📱 QR Digital Cold Waybill</a:t>
            </a:r>
          </a:p>
          <a:p>
            <a:pPr>
              <a:spcAft>
                <a:spcPts val="600"/>
              </a:spcAft>
              <a:defRPr sz="1100" b="1">
                <a:solidFill>
                  <a:srgbClr val="34D399"/>
                </a:solidFill>
              </a:defRPr>
            </a:pPr>
            <a:r>
              <a:t>Tamper-Proof QC Proof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Generates cryptographic QR waybills recording temperature compliance history from farmgate loading to buyer delivery.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2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BBF24"/>
                </a:solidFill>
              </a:defRPr>
            </a:pPr>
            <a:r>
              <a:t>SMART INDIA HACKATHON 2026 • PROBLEM STATEMENT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Comprehensive 40+ Indian Vegetables Database &amp; Sourcing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66360" cy="137160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34D399"/>
                </a:solidFill>
              </a:defRPr>
            </a:pPr>
            <a:r>
              <a:t>🥔 Roots &amp; Tubers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Potato, Onion, Carrot, Beetroot, Radish, Ginger, Garlic, Sweet Potato, Colocasia (Arbi), Yam (Jimikand).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166360" cy="137160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737360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34D399"/>
                </a:solidFill>
              </a:defRPr>
            </a:pPr>
            <a:r>
              <a:t>🥬 Leafy Greens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Palak (Spinach), Methi (Fenugreek), Coriander, Curry Leaves, Mustard Greens (Sarson), Amaranth (Chaulai).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82112"/>
            <a:ext cx="5166360" cy="137160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73552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34D399"/>
                </a:solidFill>
              </a:defRPr>
            </a:pPr>
            <a:r>
              <a:t>🥒 Gourds &amp; Squashes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Bottle Gourd (Lauki), Bitter Gourd (Karela), Ridge Gourd (Turai), Sponge Gourd, Ivy Gourd (Tindora), Pumpkin.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82112"/>
            <a:ext cx="5166360" cy="137160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273552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34D399"/>
                </a:solidFill>
              </a:defRPr>
            </a:pPr>
            <a:r>
              <a:t>🥦 Brassicas &amp; Cruciferous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Cauliflower (Gobi), Green Cabbage, Broccoli, Knol Khol (Ganth Gobi).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718304"/>
            <a:ext cx="5166360" cy="137160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809744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34D399"/>
                </a:solidFill>
              </a:defRPr>
            </a:pPr>
            <a:r>
              <a:t>🍅 Solanaceous Nightshades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Tomato (Hybrid &amp; Desi), Green Chilli (G-4), Red Capsicum, Yellow Capsicum, Green Bell Pepper, Brinjal / Eggplant.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18304"/>
            <a:ext cx="5166360" cy="137160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4809744"/>
            <a:ext cx="4892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34D399"/>
                </a:solidFill>
              </a:defRPr>
            </a:pPr>
            <a:r>
              <a:t>🫛 Pods, Legumes &amp; Alliums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Green Peas (Matar), Okra / Ladyfinger (Bhindi), Cluster Beans (Gawar), French Beans, Drumstick (Moringa).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2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BBF24"/>
                </a:solidFill>
              </a:defRPr>
            </a:pPr>
            <a:r>
              <a:t>SMART INDIA HACKATHON 2026 • PROBLEM STATEMENT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System Architecture &amp; Production-Grade 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🖥️ Frontend Architecture — Tailwind CSS CDN, Modern Glassmorphic UI, Responsive Split-Screen Auth, Leaflet GIS Mapping, Chart.js Telematics.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698480" cy="77724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🎵 Naturistic SoundEngine — Web Audio API 528Hz acoustic bamboo leaf feedback for organic tactile user experience on all actions.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74720"/>
            <a:ext cx="10698480" cy="77724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🗄️ Relational SQLite3 Database — Local binary database (agriflow.db) storing crops, staff MPIN credentials, farmer earnings, orders, and telematics logs.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89120"/>
            <a:ext cx="10698480" cy="77724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805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⚙️ 3 Node.js Microservices — Farmer Server (:5001), Buyer Server (:5002), and Logistics Server (:5003) for decentralized scalability.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03520"/>
            <a:ext cx="10698480" cy="77724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39496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🔒 Security &amp; Data Privacy — DPDP Act 2023 bank masking, 4-digit MPIN authorization, SMS OTP verification, and smart contract escrow locking.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2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BBF24"/>
                </a:solidFill>
              </a:defRPr>
            </a:pPr>
            <a:r>
              <a:t>SMART INDIA HACKATHON 2026 • PROBLEM STATEMENT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Quantifiable Economic Impact &amp; Stakeholder ROI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42032" cy="4389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22677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4D399"/>
                </a:solidFill>
              </a:defRPr>
            </a:pPr>
            <a:r>
              <a:t>35% Spoilage Elimination</a:t>
            </a:r>
          </a:p>
          <a:p>
            <a:pPr>
              <a:spcAft>
                <a:spcPts val="1200"/>
              </a:spcAft>
              <a:defRPr sz="1100" b="1">
                <a:solidFill>
                  <a:srgbClr val="FBBF24"/>
                </a:solidFill>
              </a:defRPr>
            </a:pPr>
            <a:r>
              <a:t>Post-Harvest Waste Reduction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AI cold routing and 0-4°C active reefers preserve perishable grade quality from farmgate to retail shelves.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645920"/>
            <a:ext cx="2542032" cy="4389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828800"/>
            <a:ext cx="22677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BBF24"/>
                </a:solidFill>
              </a:defRPr>
            </a:pPr>
            <a:r>
              <a:t>+32.4% Net Farmer Uplift</a:t>
            </a:r>
          </a:p>
          <a:p>
            <a:pPr>
              <a:spcAft>
                <a:spcPts val="1200"/>
              </a:spcAft>
              <a:defRPr sz="1100" b="1">
                <a:solidFill>
                  <a:srgbClr val="FBBF24"/>
                </a:solidFill>
              </a:defRPr>
            </a:pPr>
            <a:r>
              <a:t>Direct Income Enhancement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Zero intermediary commission cuts + MSP floor protection delivers immediate higher realization per 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645920"/>
            <a:ext cx="2542032" cy="4389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828800"/>
            <a:ext cx="22677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28% Sourcing Savings</a:t>
            </a:r>
          </a:p>
          <a:p>
            <a:pPr>
              <a:spcAft>
                <a:spcPts val="1200"/>
              </a:spcAft>
              <a:defRPr sz="1100" b="1">
                <a:solidFill>
                  <a:srgbClr val="FBBF24"/>
                </a:solidFill>
              </a:defRPr>
            </a:pPr>
            <a:r>
              <a:t>Institutional Buyer Advantage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Direct procurement from verified FPOs cuts APMC mandi cess, transit waste, and landing costs.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645920"/>
            <a:ext cx="2542032" cy="438912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6" y="1828800"/>
            <a:ext cx="22677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4D399"/>
                </a:solidFill>
              </a:defRPr>
            </a:pPr>
            <a:r>
              <a:t>T+0 Same-Day Cashflow</a:t>
            </a:r>
          </a:p>
          <a:p>
            <a:pPr>
              <a:spcAft>
                <a:spcPts val="1200"/>
              </a:spcAft>
              <a:defRPr sz="1100" b="1">
                <a:solidFill>
                  <a:srgbClr val="FBBF24"/>
                </a:solidFill>
              </a:defRPr>
            </a:pPr>
            <a:r>
              <a:t>Rural Liquidity Guarantee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Automated escrow settlement solves chronic 45-day buyer credit cycles for smallholder farmers.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2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BBF24"/>
                </a:solidFill>
              </a:defRPr>
            </a:pPr>
            <a:r>
              <a:t>SMART INDIA HACKATHON 2026 • PROBLEM STATEMENT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National Scale, Future Roadmap &amp; SIH 2026 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868680"/>
          </a:xfrm>
          <a:prstGeom prst="roundRect">
            <a:avLst/>
          </a:prstGeom>
          <a:solidFill>
            <a:srgbClr val="0B2E23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55648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FBBF24"/>
                </a:solidFill>
              </a:defRPr>
            </a:pPr>
            <a:r>
              <a:t>Phase 1: SIH 2026 Prototype (Current)</a:t>
            </a:r>
          </a:p>
          <a:p>
            <a:pPr>
              <a:defRPr sz="1050">
                <a:solidFill>
                  <a:srgbClr val="FFFFFF"/>
                </a:solidFill>
              </a:defRPr>
            </a:pPr>
            <a:r>
              <a:t>Full 5-stakeholder protocol, SQLite database, 11 languages, 40+ veggies, MSP price model, and active telematics 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10698480" cy="86868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07208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34D399"/>
                </a:solidFill>
              </a:defRPr>
            </a:pPr>
            <a:r>
              <a:t>Phase 2: ONDC Agri &amp; e-NAM Integration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Direct integration with National Agriculture Market and ONDC open network for nationwide buyer discovery.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40"/>
            <a:ext cx="10698480" cy="86868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58768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34D399"/>
                </a:solidFill>
              </a:defRPr>
            </a:pPr>
            <a:r>
              <a:t>Phase 3: 500+ APMC Mandi Cold Corridors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Deploying solar-powered mobile cold hubs across Maharashtra, Punjab, Karnataka, and Tamil Nadu farm clusters.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00600"/>
            <a:ext cx="10698480" cy="868680"/>
          </a:xfrm>
          <a:prstGeom prst="roundRect">
            <a:avLst/>
          </a:prstGeom>
          <a:solidFill>
            <a:srgbClr val="0B2E23"/>
          </a:solidFill>
          <a:ln>
            <a:solidFill>
              <a:srgbClr val="14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910328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34D399"/>
                </a:solidFill>
              </a:defRPr>
            </a:pPr>
            <a:r>
              <a:t>Phase 4: Carbon Credit Monetization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Incentivizing zero-emission electric reefer fleets with tradable carbon credits for FPOs.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